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HarshiniGirish/NISAR_OGC_JOB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HarshiniGirish/NISAR_OGC_JOB/blob/main/input/nisar_access_subset.py" TargetMode="External"/><Relationship Id="rId3" Type="http://schemas.openxmlformats.org/officeDocument/2006/relationships/hyperlink" Target="https://github.com/HarshiniGirish/NISAR_OGC_JOB/blob/main/input/app.yml" TargetMode="External"/><Relationship Id="rId4" Type="http://schemas.openxmlformats.org/officeDocument/2006/relationships/hyperlink" Target="https://github.com/HarshiniGirish/NISAR_OGC_JOB/blob/main/generator/generate_package.py" TargetMode="External"/><Relationship Id="rId5" Type="http://schemas.openxmlformats.org/officeDocument/2006/relationships/hyperlink" Target="https://github.com/HarshiniGirish/NISAR_OGC_JOB/blob/main/generator/dependency_map.yml" TargetMode="External"/><Relationship Id="rId6" Type="http://schemas.openxmlformats.org/officeDocument/2006/relationships/hyperlink" Target="https://github.com/HarshiniGirish/NISAR_OGC_JOB/tree/main/templates" TargetMode="External"/><Relationship Id="rId7" Type="http://schemas.openxmlformats.org/officeDocument/2006/relationships/hyperlink" Target="https://github.com/HarshiniGirish/NISAR_OGC_JOB/tree/main/generated_package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HarshiniGirish/NISAR_OGC_JOB/blob/main/generator/generate_package.py" TargetMode="External"/><Relationship Id="rId3" Type="http://schemas.openxmlformats.org/officeDocument/2006/relationships/hyperlink" Target="https://github.com/HarshiniGirish/NISAR_OGC_JOB/blob/main/generator/dependency_map.yml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HarshiniGirish/NISAR_OGC_JOB/blob/main/generated_package/build.sh" TargetMode="External"/><Relationship Id="rId3" Type="http://schemas.openxmlformats.org/officeDocument/2006/relationships/hyperlink" Target="https://github.com/HarshiniGirish/NISAR_OGC_JOB/blob/main/generated_package/run.sh" TargetMode="External"/><Relationship Id="rId4" Type="http://schemas.openxmlformats.org/officeDocument/2006/relationships/hyperlink" Target="https://github.com/HarshiniGirish/NISAR_OGC_JOB/blob/main/generated_package/env.yml" TargetMode="External"/><Relationship Id="rId5" Type="http://schemas.openxmlformats.org/officeDocument/2006/relationships/hyperlink" Target="https://github.com/HarshiniGirish/NISAR_OGC_JOB/blob/main/generated_package/requirements.txt" TargetMode="External"/><Relationship Id="rId6" Type="http://schemas.openxmlformats.org/officeDocument/2006/relationships/hyperlink" Target="https://github.com/HarshiniGirish/NISAR_OGC_JOB/blob/main/generated_package/algorithm.yml" TargetMode="External"/><Relationship Id="rId7" Type="http://schemas.openxmlformats.org/officeDocument/2006/relationships/hyperlink" Target="https://github.com/HarshiniGirish/NISAR_OGC_JOB/blob/main/generated_package/Dockerfile" TargetMode="External"/><Relationship Id="rId8" Type="http://schemas.openxmlformats.org/officeDocument/2006/relationships/hyperlink" Target="https://github.com/HarshiniGirish/NISAR_OGC_JOB/blob/main/generated_package/nisar_access_subset.cwl" TargetMode="External"/><Relationship Id="rId9" Type="http://schemas.openxmlformats.org/officeDocument/2006/relationships/hyperlink" Target="https://github.com/HarshiniGirish/NISAR_OGC_JOB/blob/main/generated_package/report.md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HarshiniGirish/NISAR_OGC_JOB/blob/main/input/nisar_access_subset.py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HarshiniGirish/NISAR_OGC_JOB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300" b="1">
                <a:solidFill>
                  <a:srgbClr val="102A43"/>
                </a:solidFill>
              </a:defRPr>
            </a:pPr>
            <a:r>
              <a:t>User Code to OGC Application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525E6C"/>
                </a:solidFill>
              </a:defRPr>
            </a:pPr>
            <a:r>
              <a:t>Automating conversion of notebooks/scripts into MAAP DPS jobs and OGC Application Packages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2468880"/>
            <a:ext cx="3108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2606040"/>
            <a:ext cx="2779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A43"/>
                </a:solidFill>
              </a:defRPr>
            </a:pPr>
            <a: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2971800"/>
            <a:ext cx="27797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41414"/>
                </a:solidFill>
              </a:defRPr>
            </a:pPr>
            <a:r>
              <a:t>User Python script</a:t>
            </a:r>
            <a:br/>
            <a:r>
              <a:t>+ app.yml manifest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468880"/>
            <a:ext cx="3108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36592" y="2606040"/>
            <a:ext cx="2779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A43"/>
                </a:solidFill>
              </a:defRPr>
            </a:pPr>
            <a:r>
              <a:t>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6592" y="2971800"/>
            <a:ext cx="27797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41414"/>
                </a:solidFill>
              </a:defRPr>
            </a:pPr>
            <a:r>
              <a:t>Static import analysis</a:t>
            </a:r>
            <a:br/>
            <a:r>
              <a:t>+ templates</a:t>
            </a:r>
            <a:br/>
            <a:r>
              <a:t>+ dependency mapping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468880"/>
            <a:ext cx="3108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2606040"/>
            <a:ext cx="2779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A43"/>
                </a:solidFill>
              </a:defRPr>
            </a:pPr>
            <a: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971800"/>
            <a:ext cx="27797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41414"/>
                </a:solidFill>
              </a:defRPr>
            </a:pPr>
            <a:r>
              <a:t>build.sh, run.sh, env.yml,</a:t>
            </a:r>
            <a:br/>
            <a:r>
              <a:t>algorithm.yml, Dockerfile, CWL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60520" y="3063240"/>
            <a:ext cx="365760" cy="0"/>
          </a:xfrm>
          <a:prstGeom prst="line">
            <a:avLst/>
          </a:prstGeom>
          <a:ln w="25400">
            <a:solidFill>
              <a:srgbClr val="007D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26679" y="3063240"/>
            <a:ext cx="365761" cy="0"/>
          </a:xfrm>
          <a:prstGeom prst="line">
            <a:avLst/>
          </a:prstGeom>
          <a:ln w="25400">
            <a:solidFill>
              <a:srgbClr val="007D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97280" y="493776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2A43"/>
                </a:solidFill>
              </a:defRPr>
            </a:pPr>
            <a:r>
              <a:t>Repository: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5285232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u="sng">
                <a:solidFill>
                  <a:srgbClr val="005B96"/>
                </a:solidFill>
                <a:hlinkClick r:id="rId2"/>
              </a:rPr>
              <a:t>https://github.com/HarshiniGirish/NISAR_OGC_JOB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5E6C"/>
                </a:solidFill>
              </a:defRPr>
            </a:pPr>
            <a:r>
              <a:t>NISAR_OGC_JOB proof of concept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84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102A43"/>
                </a:solidFill>
              </a:defRPr>
            </a:pPr>
            <a:r>
              <a:t>Challenge: science code is hard to productionize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1384280" cy="27432"/>
          </a:xfrm>
          <a:prstGeom prst="rect">
            <a:avLst/>
          </a:prstGeom>
          <a:solidFill>
            <a:srgbClr val="0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41414"/>
                </a:solidFill>
              </a:defRPr>
            </a:pPr>
            <a:r>
              <a:t>Scientists usually start with notebooks and scripts.</a:t>
            </a:r>
          </a:p>
          <a:p>
            <a:pPr>
              <a:spcAft>
                <a:spcPts val="500"/>
              </a:spcAft>
              <a:defRPr sz="1800">
                <a:solidFill>
                  <a:srgbClr val="141414"/>
                </a:solidFill>
              </a:defRPr>
            </a:pPr>
            <a:r>
              <a:t>MAAP DPS requires command-line code, wrappers, environment files, algorithm registration metadata, and container choices.</a:t>
            </a:r>
          </a:p>
          <a:p>
            <a:pPr>
              <a:spcAft>
                <a:spcPts val="500"/>
              </a:spcAft>
              <a:defRPr sz="1800">
                <a:solidFill>
                  <a:srgbClr val="141414"/>
                </a:solidFill>
              </a:defRPr>
            </a:pPr>
            <a:r>
              <a:t>OGC Application Packages require CWL/container packaging knowledge.</a:t>
            </a:r>
          </a:p>
          <a:p>
            <a:pPr>
              <a:spcAft>
                <a:spcPts val="500"/>
              </a:spcAft>
              <a:defRPr sz="1800">
                <a:solidFill>
                  <a:srgbClr val="141414"/>
                </a:solidFill>
              </a:defRPr>
            </a:pPr>
            <a:r>
              <a:t>Science support teams repeatedly help users debug the same packaging issues.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097280"/>
            <a:ext cx="4937760" cy="1143000"/>
          </a:xfrm>
          <a:prstGeom prst="roundRect">
            <a:avLst/>
          </a:prstGeom>
          <a:solidFill>
            <a:srgbClr val="F1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56831" y="1234439"/>
            <a:ext cx="4608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A43"/>
                </a:solidFill>
              </a:defRPr>
            </a:pPr>
            <a:r>
              <a:t>Manual path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56831" y="1600200"/>
            <a:ext cx="46085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41414"/>
                </a:solidFill>
              </a:defRPr>
            </a:pPr>
            <a:r>
              <a:t>Notebook -&gt; refactor script -&gt; write run.sh -&gt; write env.yml -&gt; write algorithm config -&gt; build container -&gt; debug DPS logs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560320"/>
            <a:ext cx="4937760" cy="1143000"/>
          </a:xfrm>
          <a:prstGeom prst="roundRect">
            <a:avLst/>
          </a:prstGeom>
          <a:solidFill>
            <a:srgbClr val="F1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6831" y="2697479"/>
            <a:ext cx="4608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A43"/>
                </a:solidFill>
              </a:defRPr>
            </a:pPr>
            <a: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6831" y="3063239"/>
            <a:ext cx="46085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41414"/>
                </a:solidFill>
              </a:defRPr>
            </a:pPr>
            <a:r>
              <a:t>The mechanical translation is slow, repetitive, and error-prone.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4023360"/>
            <a:ext cx="4937760" cy="1143000"/>
          </a:xfrm>
          <a:prstGeom prst="roundRect">
            <a:avLst/>
          </a:prstGeom>
          <a:solidFill>
            <a:srgbClr val="F1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1" y="4160520"/>
            <a:ext cx="4608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A43"/>
                </a:solidFill>
              </a:defRPr>
            </a:pPr>
            <a: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1" y="4526280"/>
            <a:ext cx="46085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41414"/>
                </a:solidFill>
              </a:defRPr>
            </a:pPr>
            <a:r>
              <a:t>Let users provide science code and a minimal manifest, then generate the package automatically.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5E6C"/>
                </a:solidFill>
              </a:defRPr>
            </a:pPr>
            <a:r>
              <a:t>NISAR_OGC_JOB proof of concept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84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102A43"/>
                </a:solidFill>
              </a:defRPr>
            </a:pPr>
            <a:r>
              <a:t>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1384280" cy="27432"/>
          </a:xfrm>
          <a:prstGeom prst="rect">
            <a:avLst/>
          </a:prstGeom>
          <a:solidFill>
            <a:srgbClr val="0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02A43"/>
                </a:solidFill>
              </a:defRPr>
            </a:pPr>
            <a:r>
              <a:t>A service that turns user code into deployable MAAP DPS and/or OGC package artifacts.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3337560" cy="1828800"/>
          </a:xfrm>
          <a:prstGeom prst="roundRect">
            <a:avLst/>
          </a:prstGeom>
          <a:solidFill>
            <a:srgbClr val="F1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28800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A43"/>
                </a:solidFill>
              </a:defRPr>
            </a:pPr>
            <a:r>
              <a:t>1. User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194560"/>
            <a:ext cx="300837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41414"/>
                </a:solidFill>
              </a:defRPr>
            </a:pPr>
            <a:r>
              <a:t>A Python script or notebook plus a small app.yml describing inputs, outputs, target, resources, and container preference.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91640"/>
            <a:ext cx="3337560" cy="1828800"/>
          </a:xfrm>
          <a:prstGeom prst="roundRect">
            <a:avLst/>
          </a:prstGeom>
          <a:solidFill>
            <a:srgbClr val="F1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828800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A43"/>
                </a:solidFill>
              </a:defRPr>
            </a:pPr>
            <a:r>
              <a:t>2.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194560"/>
            <a:ext cx="300837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41414"/>
                </a:solidFill>
              </a:defRPr>
            </a:pPr>
            <a:r>
              <a:t>Parse imports with AST, map dependencies, and produce a report. Future: notebook linting and LLM-assisted checks.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91640"/>
            <a:ext cx="3337560" cy="1828800"/>
          </a:xfrm>
          <a:prstGeom prst="roundRect">
            <a:avLst/>
          </a:prstGeom>
          <a:solidFill>
            <a:srgbClr val="F1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828800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A43"/>
                </a:solidFill>
              </a:defRPr>
            </a:pPr>
            <a:r>
              <a:t>3. Code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2194560"/>
            <a:ext cx="300837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41414"/>
                </a:solidFill>
              </a:defRPr>
            </a:pPr>
            <a:r>
              <a:t>Emit build/run wrappers, environment, MAAP algorithm config, Dockerfile, CWL, and package report.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416052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16352" y="4297680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A43"/>
                </a:solidFill>
              </a:defRPr>
            </a:pPr>
            <a:r>
              <a:t>DPS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6352" y="4663440"/>
            <a:ext cx="3008376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41414"/>
                </a:solidFill>
              </a:defRPr>
            </a:pPr>
            <a:r>
              <a:t>Generated files support MAAP DPS registration and execution.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16052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4297680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A43"/>
                </a:solidFill>
              </a:defRPr>
            </a:pPr>
            <a:r>
              <a:t>OGC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663440"/>
            <a:ext cx="3008376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41414"/>
                </a:solidFill>
              </a:defRPr>
            </a:pPr>
            <a:r>
              <a:t>Generated CWL and container files support OGC Application Package execution.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5E6C"/>
                </a:solidFill>
              </a:defRPr>
            </a:pPr>
            <a:r>
              <a:t>NISAR_OGC_JOB proof of concept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84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102A43"/>
                </a:solidFill>
              </a:defRPr>
            </a:pPr>
            <a:r>
              <a:t>What this repository implements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1384280" cy="27432"/>
          </a:xfrm>
          <a:prstGeom prst="rect">
            <a:avLst/>
          </a:prstGeom>
          <a:solidFill>
            <a:srgbClr val="0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5669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</a:defRPr>
            </a:pPr>
            <a:r>
              <a:t>A working proof of concept for script-to-package generation.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</a:defRPr>
            </a:pPr>
            <a:r>
              <a:t>Uses a NISAR GCOV subsetting script as the example science workflow.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</a:defRPr>
            </a:pPr>
            <a:r>
              <a:t>Reads a declarative app.yml manifest.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</a:defRPr>
            </a:pPr>
            <a:r>
              <a:t>Detects Python imports using AST.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</a:defRPr>
            </a:pPr>
            <a:r>
              <a:t>Resolves dependencies using dependency_map.yml plus manifest dependencies.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</a:defRPr>
            </a:pPr>
            <a:r>
              <a:t>Renders package files from templates into generated_package/.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10515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2A43"/>
                </a:solidFill>
              </a:defRPr>
            </a:pPr>
            <a:r>
              <a:t>Key source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508760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u="sng">
                <a:solidFill>
                  <a:srgbClr val="005B96"/>
                </a:solidFill>
                <a:hlinkClick r:id="rId2"/>
              </a:rPr>
              <a:t>input/nisar_access_subset.py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874519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u="sng">
                <a:solidFill>
                  <a:srgbClr val="005B96"/>
                </a:solidFill>
                <a:hlinkClick r:id="rId3"/>
              </a:rPr>
              <a:t>input/app.yml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240280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u="sng">
                <a:solidFill>
                  <a:srgbClr val="005B96"/>
                </a:solidFill>
                <a:hlinkClick r:id="rId4"/>
              </a:rPr>
              <a:t>generator/generate_package.py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606040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u="sng">
                <a:solidFill>
                  <a:srgbClr val="005B96"/>
                </a:solidFill>
                <a:hlinkClick r:id="rId5"/>
              </a:rPr>
              <a:t>generator/dependency_map.yml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971800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u="sng">
                <a:solidFill>
                  <a:srgbClr val="005B96"/>
                </a:solidFill>
                <a:hlinkClick r:id="rId6"/>
              </a:rPr>
              <a:t>templates/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337560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u="sng">
                <a:solidFill>
                  <a:srgbClr val="005B96"/>
                </a:solidFill>
                <a:hlinkClick r:id="rId7"/>
              </a:rPr>
              <a:t>generated_package/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5E6C"/>
                </a:solidFill>
              </a:defRPr>
            </a:pPr>
            <a:r>
              <a:t>NISAR_OGC_JOB proof of concept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84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102A43"/>
                </a:solidFill>
              </a:defRPr>
            </a:pPr>
            <a:r>
              <a:t>Repository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1384280" cy="27432"/>
          </a:xfrm>
          <a:prstGeom prst="rect">
            <a:avLst/>
          </a:prstGeom>
          <a:solidFill>
            <a:srgbClr val="0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80160" y="1143000"/>
            <a:ext cx="640080" cy="640080"/>
          </a:xfrm>
          <a:prstGeom prst="ellipse">
            <a:avLst/>
          </a:prstGeom>
          <a:solidFill>
            <a:srgbClr val="0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057400"/>
            <a:ext cx="1545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A43"/>
                </a:solidFill>
              </a:defRPr>
            </a:pPr>
            <a:r>
              <a:t>User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423160"/>
            <a:ext cx="15453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41414"/>
                </a:solidFill>
              </a:defRPr>
            </a:pPr>
            <a:r>
              <a:t>input/nisar_access_subset.py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79" y="2487168"/>
            <a:ext cx="365761" cy="0"/>
          </a:xfrm>
          <a:prstGeom prst="line">
            <a:avLst/>
          </a:prstGeom>
          <a:ln w="25400">
            <a:solidFill>
              <a:srgbClr val="007D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566160" y="1143000"/>
            <a:ext cx="640080" cy="640080"/>
          </a:xfrm>
          <a:prstGeom prst="ellipse">
            <a:avLst/>
          </a:prstGeom>
          <a:solidFill>
            <a:srgbClr val="0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92024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2057400"/>
            <a:ext cx="1545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A43"/>
                </a:solidFill>
              </a:defRPr>
            </a:pPr>
            <a:r>
              <a:t>Manifest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2423160"/>
            <a:ext cx="15453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41414"/>
                </a:solidFill>
              </a:defRPr>
            </a:pPr>
            <a:r>
              <a:t>input/app.yml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54879" y="2487168"/>
            <a:ext cx="365761" cy="0"/>
          </a:xfrm>
          <a:prstGeom prst="line">
            <a:avLst/>
          </a:prstGeom>
          <a:ln w="25400">
            <a:solidFill>
              <a:srgbClr val="007D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852160" y="1143000"/>
            <a:ext cx="640080" cy="640080"/>
          </a:xfrm>
          <a:prstGeom prst="ellipse">
            <a:avLst/>
          </a:prstGeom>
          <a:solidFill>
            <a:srgbClr val="0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192024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0952" y="2057400"/>
            <a:ext cx="1545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A43"/>
                </a:solidFill>
              </a:defRPr>
            </a:pPr>
            <a:r>
              <a:t>Generator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2" y="2423160"/>
            <a:ext cx="15453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41414"/>
                </a:solidFill>
              </a:defRPr>
            </a:pPr>
            <a:r>
              <a:t>generator/generate_package.py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40880" y="2487168"/>
            <a:ext cx="365760" cy="0"/>
          </a:xfrm>
          <a:prstGeom prst="line">
            <a:avLst/>
          </a:prstGeom>
          <a:ln w="25400">
            <a:solidFill>
              <a:srgbClr val="007D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138160" y="1143000"/>
            <a:ext cx="640080" cy="640080"/>
          </a:xfrm>
          <a:prstGeom prst="ellipse">
            <a:avLst/>
          </a:prstGeom>
          <a:solidFill>
            <a:srgbClr val="0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192024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16952" y="2057400"/>
            <a:ext cx="1545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A43"/>
                </a:solidFill>
              </a:defRPr>
            </a:pPr>
            <a:r>
              <a:t>Templates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2423160"/>
            <a:ext cx="15453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41414"/>
                </a:solidFill>
              </a:defRPr>
            </a:pPr>
            <a:r>
              <a:t>templates/*.template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326880" y="2487168"/>
            <a:ext cx="365760" cy="0"/>
          </a:xfrm>
          <a:prstGeom prst="line">
            <a:avLst/>
          </a:prstGeom>
          <a:ln w="25400">
            <a:solidFill>
              <a:srgbClr val="007D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0424160" y="1143000"/>
            <a:ext cx="640080" cy="640080"/>
          </a:xfrm>
          <a:prstGeom prst="ellipse">
            <a:avLst/>
          </a:prstGeom>
          <a:solidFill>
            <a:srgbClr val="0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38360" y="192024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02952" y="2057400"/>
            <a:ext cx="1545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A43"/>
                </a:solidFill>
              </a:defRPr>
            </a:pPr>
            <a:r>
              <a:t>Generated package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2952" y="2423160"/>
            <a:ext cx="15453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41414"/>
                </a:solidFill>
              </a:defRPr>
            </a:pPr>
            <a:r>
              <a:t>generated_package/*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1605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2A43"/>
                </a:solidFill>
              </a:defRPr>
            </a:pPr>
            <a:r>
              <a:t>Demo command: python generator/generate_package.py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75488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25E6C"/>
                </a:solidFill>
              </a:defRPr>
            </a:pPr>
            <a:r>
              <a:t>This command regenerates build.sh, run.sh, env.yml, algorithm.yml, Dockerfile, CWL, requirements.txt, report.md, and a packaged copy of the script.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5E6C"/>
                </a:solidFill>
              </a:defRPr>
            </a:pPr>
            <a:r>
              <a:t>NISAR_OGC_JOB proof of concept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84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102A43"/>
                </a:solidFill>
              </a:defRPr>
            </a:pPr>
            <a:r>
              <a:t>How generation works internally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1384280" cy="27432"/>
          </a:xfrm>
          <a:prstGeom prst="rect">
            <a:avLst/>
          </a:prstGeom>
          <a:solidFill>
            <a:srgbClr val="0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3383280" cy="1371600"/>
          </a:xfrm>
          <a:prstGeom prst="roundRect">
            <a:avLst/>
          </a:prstGeom>
          <a:solidFill>
            <a:srgbClr val="F1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143000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A43"/>
                </a:solidFill>
              </a:defRPr>
            </a:pPr>
            <a:r>
              <a:t>AST import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508760"/>
            <a:ext cx="305409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41414"/>
                </a:solidFill>
              </a:defRPr>
            </a:pPr>
            <a:r>
              <a:t>generate_package.py parses the Python script and detects imports such as earthaccess, h5py, numpy, s3fs, xarray.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005840"/>
            <a:ext cx="3383280" cy="1371600"/>
          </a:xfrm>
          <a:prstGeom prst="roundRect">
            <a:avLst/>
          </a:prstGeom>
          <a:solidFill>
            <a:srgbClr val="F1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143000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A43"/>
                </a:solidFill>
              </a:defRPr>
            </a:pPr>
            <a:r>
              <a:t>Dependency mapping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1508760"/>
            <a:ext cx="305409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41414"/>
                </a:solidFill>
              </a:defRPr>
            </a:pPr>
            <a:r>
              <a:t>dependency_map.yml maps imports to package names. app.yml can add explicit conda/pip dependencies.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005840"/>
            <a:ext cx="3383280" cy="1371600"/>
          </a:xfrm>
          <a:prstGeom prst="roundRect">
            <a:avLst/>
          </a:prstGeom>
          <a:solidFill>
            <a:srgbClr val="F1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143000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A43"/>
                </a:solidFill>
              </a:defRPr>
            </a:pPr>
            <a:r>
              <a:t>Template rendering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1508760"/>
            <a:ext cx="305409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41414"/>
                </a:solidFill>
              </a:defRPr>
            </a:pPr>
            <a:r>
              <a:t>Templates define the structure of run.sh, build.sh, Dockerfile, CWL, env.yml, and algorithm.yml.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41414"/>
                </a:solidFill>
              </a:defRPr>
            </a:pPr>
            <a:r>
              <a:t>The generated files are not manually written each time.</a:t>
            </a:r>
          </a:p>
          <a:p>
            <a:pPr>
              <a:spcAft>
                <a:spcPts val="500"/>
              </a:spcAft>
              <a:defRPr sz="1800">
                <a:solidFill>
                  <a:srgbClr val="141414"/>
                </a:solidFill>
              </a:defRPr>
            </a:pPr>
            <a:r>
              <a:t>The package changes when the app.yml inputs, dependencies, repository URL, base container, or entrypoint change.</a:t>
            </a:r>
          </a:p>
          <a:p>
            <a:pPr>
              <a:spcAft>
                <a:spcPts val="500"/>
              </a:spcAft>
              <a:defRPr sz="1800">
                <a:solidFill>
                  <a:srgbClr val="141414"/>
                </a:solidFill>
              </a:defRPr>
            </a:pPr>
            <a:r>
              <a:t>The report documents detected imports, resolved dependencies, generated files, and review notes.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532120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u="sng">
                <a:solidFill>
                  <a:srgbClr val="005B96"/>
                </a:solidFill>
                <a:hlinkClick r:id="rId2"/>
              </a:rPr>
              <a:t>See generator/generate_package.py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5532120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u="sng">
                <a:solidFill>
                  <a:srgbClr val="005B96"/>
                </a:solidFill>
                <a:hlinkClick r:id="rId3"/>
              </a:rPr>
              <a:t>See generator/dependency_map.yml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5E6C"/>
                </a:solidFill>
              </a:defRPr>
            </a:pPr>
            <a:r>
              <a:t>NISAR_OGC_JOB proof of concept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84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102A43"/>
                </a:solidFill>
              </a:defRPr>
            </a:pPr>
            <a:r>
              <a:t>Generated package outputs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1384280" cy="27432"/>
          </a:xfrm>
          <a:prstGeom prst="rect">
            <a:avLst/>
          </a:prstGeom>
          <a:solidFill>
            <a:srgbClr val="0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A43"/>
                </a:solidFill>
              </a:defRPr>
            </a:pPr>
            <a:r>
              <a:t>build.sh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143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41414"/>
                </a:solidFill>
              </a:defRPr>
            </a:pPr>
            <a:r>
              <a:t>Builds and validates the runtime environment.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27048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u="sng">
                <a:solidFill>
                  <a:srgbClr val="005B96"/>
                </a:solidFill>
                <a:hlinkClick r:id="rId2"/>
              </a:rPr>
              <a:t>Open build.sh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A43"/>
                </a:solidFill>
              </a:defRPr>
            </a:pPr>
            <a:r>
              <a:t>run.sh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1488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41414"/>
                </a:solidFill>
              </a:defRPr>
            </a:pPr>
            <a:r>
              <a:t>Runs the packaged science workflow.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32888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u="sng">
                <a:solidFill>
                  <a:srgbClr val="005B96"/>
                </a:solidFill>
                <a:hlinkClick r:id="rId3"/>
              </a:rPr>
              <a:t>Open run.sh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A43"/>
                </a:solidFill>
              </a:defRPr>
            </a:pPr>
            <a:r>
              <a:t>env.yml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31546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41414"/>
                </a:solidFill>
              </a:defRPr>
            </a:pPr>
            <a:r>
              <a:t>Conda environment for runtime dependencies.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38728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u="sng">
                <a:solidFill>
                  <a:srgbClr val="005B96"/>
                </a:solidFill>
                <a:hlinkClick r:id="rId4"/>
              </a:rPr>
              <a:t>Open env.yml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A43"/>
                </a:solidFill>
              </a:defRPr>
            </a:pPr>
            <a:r>
              <a:t>requirements.txt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41605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41414"/>
                </a:solidFill>
              </a:defRPr>
            </a:pPr>
            <a:r>
              <a:t>Pip-style dependency list.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44568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u="sng">
                <a:solidFill>
                  <a:srgbClr val="005B96"/>
                </a:solidFill>
                <a:hlinkClick r:id="rId5"/>
              </a:rPr>
              <a:t>Open requirements.txt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1430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A43"/>
                </a:solidFill>
              </a:defRPr>
            </a:pPr>
            <a:r>
              <a:t>algorithm.yml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1143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41414"/>
                </a:solidFill>
              </a:defRPr>
            </a:pPr>
            <a:r>
              <a:t>MAAP DPS registration-style metadata.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527048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u="sng">
                <a:solidFill>
                  <a:srgbClr val="005B96"/>
                </a:solidFill>
                <a:hlinkClick r:id="rId6"/>
              </a:rPr>
              <a:t>Open algorithm.yml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1488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A43"/>
                </a:solidFill>
              </a:defRPr>
            </a:pPr>
            <a:r>
              <a:t>Dockerfile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2148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41414"/>
                </a:solidFill>
              </a:defRPr>
            </a:pPr>
            <a:r>
              <a:t>Container recipe for the package.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532888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u="sng">
                <a:solidFill>
                  <a:srgbClr val="005B96"/>
                </a:solidFill>
                <a:hlinkClick r:id="rId7"/>
              </a:rPr>
              <a:t>Open Dockerfile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1546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A43"/>
                </a:solidFill>
              </a:defRPr>
            </a:pPr>
            <a:r>
              <a:t>nisar_access_subset.cwl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3154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41414"/>
                </a:solidFill>
              </a:defRPr>
            </a:pPr>
            <a:r>
              <a:t>OGC/CWL CommandLineTool descriptor.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538728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u="sng">
                <a:solidFill>
                  <a:srgbClr val="005B96"/>
                </a:solidFill>
                <a:hlinkClick r:id="rId8"/>
              </a:rPr>
              <a:t>Open nisar_access_subset.cwl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1605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A43"/>
                </a:solidFill>
              </a:defRPr>
            </a:pPr>
            <a:r>
              <a:t>report.md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4160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41414"/>
                </a:solidFill>
              </a:defRPr>
            </a:pPr>
            <a:r>
              <a:t>Generated analysis and package summary.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544568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u="sng">
                <a:solidFill>
                  <a:srgbClr val="005B96"/>
                </a:solidFill>
                <a:hlinkClick r:id="rId9"/>
              </a:rPr>
              <a:t>Open report.md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5E6C"/>
                </a:solidFill>
              </a:defRPr>
            </a:pPr>
            <a:r>
              <a:t>NISAR_OGC_JOB proof of concept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84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102A43"/>
                </a:solidFill>
              </a:defRPr>
            </a:pPr>
            <a:r>
              <a:t>NISAR example: what the packaged science code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1384280" cy="27432"/>
          </a:xfrm>
          <a:prstGeom prst="rect">
            <a:avLst/>
          </a:prstGeom>
          <a:solidFill>
            <a:srgbClr val="0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55778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41414"/>
                </a:solidFill>
              </a:defRPr>
            </a:pPr>
            <a:r>
              <a:t>Uses a NISAR GCOV HDF5 granule as the example workload.</a:t>
            </a:r>
          </a:p>
          <a:p>
            <a:pPr>
              <a:spcAft>
                <a:spcPts val="500"/>
              </a:spcAft>
              <a:defRPr sz="1800">
                <a:solidFill>
                  <a:srgbClr val="141414"/>
                </a:solidFill>
              </a:defRPr>
            </a:pPr>
            <a:r>
              <a:t>Supports S3, HTTPS, or auto access mode.</a:t>
            </a:r>
          </a:p>
          <a:p>
            <a:pPr>
              <a:spcAft>
                <a:spcPts val="500"/>
              </a:spcAft>
              <a:defRPr sz="1800">
                <a:solidFill>
                  <a:srgbClr val="141414"/>
                </a:solidFill>
              </a:defRPr>
            </a:pPr>
            <a:r>
              <a:t>Reads a configured HDF5 group and variables.</a:t>
            </a:r>
          </a:p>
          <a:p>
            <a:pPr>
              <a:spcAft>
                <a:spcPts val="500"/>
              </a:spcAft>
              <a:defRPr sz="1800">
                <a:solidFill>
                  <a:srgbClr val="141414"/>
                </a:solidFill>
              </a:defRPr>
            </a:pPr>
            <a:r>
              <a:t>Optionally transforms a bbox into the dataset CRS.</a:t>
            </a:r>
          </a:p>
          <a:p>
            <a:pPr>
              <a:spcAft>
                <a:spcPts val="500"/>
              </a:spcAft>
              <a:defRPr sz="1800">
                <a:solidFill>
                  <a:srgbClr val="141414"/>
                </a:solidFill>
              </a:defRPr>
            </a:pPr>
            <a:r>
              <a:t>Writes a Zarr store and manifest.json into the output directory.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960" y="1097280"/>
            <a:ext cx="4754880" cy="1051560"/>
          </a:xfrm>
          <a:prstGeom prst="roundRect">
            <a:avLst/>
          </a:prstGeom>
          <a:solidFill>
            <a:srgbClr val="F1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02552" y="1234439"/>
            <a:ext cx="4425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A43"/>
                </a:solidFill>
              </a:defRPr>
            </a:pPr>
            <a:r>
              <a:t>Example defaults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2552" y="1600200"/>
            <a:ext cx="442569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41414"/>
                </a:solidFill>
              </a:defRPr>
            </a:pPr>
            <a:r>
              <a:t>Variable: HHHH</a:t>
            </a:r>
            <a:br/>
            <a:r>
              <a:t>Group: /science/LSAR/GCOV/grids/frequencyA</a:t>
            </a:r>
            <a:br/>
            <a:r>
              <a:t>Output: nisar_subset.zarr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2514600"/>
            <a:ext cx="4754880" cy="1051560"/>
          </a:xfrm>
          <a:prstGeom prst="roundRect">
            <a:avLst/>
          </a:prstGeom>
          <a:solidFill>
            <a:srgbClr val="F1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2552" y="2651760"/>
            <a:ext cx="4425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A43"/>
                </a:solidFill>
              </a:defRPr>
            </a:pPr>
            <a:r>
              <a:t>Why NISAR?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2552" y="3017520"/>
            <a:ext cx="442569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41414"/>
                </a:solidFill>
              </a:defRPr>
            </a:pPr>
            <a:r>
              <a:t>It is a realistic earth science workflow with cloud access, HDF5, geospatial coordinates, subsetting, and Zarr output.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3931920"/>
            <a:ext cx="4754880" cy="1051560"/>
          </a:xfrm>
          <a:prstGeom prst="roundRect">
            <a:avLst/>
          </a:prstGeom>
          <a:solidFill>
            <a:srgbClr val="F1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2552" y="4069080"/>
            <a:ext cx="4425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A43"/>
                </a:solidFill>
              </a:defRPr>
            </a:pPr>
            <a:r>
              <a:t>Important distinction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2552" y="4434840"/>
            <a:ext cx="442569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41414"/>
                </a:solidFill>
              </a:defRPr>
            </a:pPr>
            <a:r>
              <a:t>The demo proves packaging automation first. Full science execution needs runtime dependencies and data credentials.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440680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u="sng">
                <a:solidFill>
                  <a:srgbClr val="005B96"/>
                </a:solidFill>
                <a:hlinkClick r:id="rId2"/>
              </a:rPr>
              <a:t>See input/nisar_access_subset.py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5E6C"/>
                </a:solidFill>
              </a:defRPr>
            </a:pPr>
            <a:r>
              <a:t>NISAR_OGC_JOB proof of concept |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84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102A43"/>
                </a:solidFill>
              </a:defRPr>
            </a:pPr>
            <a:r>
              <a:t>Demo script for presentation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1384280" cy="27432"/>
          </a:xfrm>
          <a:prstGeom prst="rect">
            <a:avLst/>
          </a:prstGeom>
          <a:solidFill>
            <a:srgbClr val="0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2A43"/>
                </a:solidFill>
              </a:defRPr>
            </a:pPr>
            <a:r>
              <a:t>Commands to show 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5440680" cy="3291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500">
                <a:solidFill>
                  <a:srgbClr val="FFFFFF"/>
                </a:solidFill>
                <a:latin typeface="Courier New"/>
              </a:defRPr>
            </a:pPr>
            <a:r>
              <a:t>$ cd ~/NISAR_OGC_JOB</a:t>
            </a:r>
          </a:p>
          <a:p>
            <a:pPr>
              <a:defRPr sz="1500">
                <a:solidFill>
                  <a:srgbClr val="FFFFFF"/>
                </a:solidFill>
                <a:latin typeface="Courier New"/>
              </a:defRPr>
            </a:pPr>
            <a:r>
              <a:t>$ rm -rf generated_package</a:t>
            </a:r>
          </a:p>
          <a:p>
            <a:pPr>
              <a:defRPr sz="1500">
                <a:solidFill>
                  <a:srgbClr val="FFFFFF"/>
                </a:solidFill>
                <a:latin typeface="Courier New"/>
              </a:defRPr>
            </a:pPr>
            <a:r>
              <a:t>$ python generator/generate_package.py</a:t>
            </a:r>
          </a:p>
          <a:p>
            <a:pPr>
              <a:defRPr sz="1500">
                <a:solidFill>
                  <a:srgbClr val="FFFFFF"/>
                </a:solidFill>
                <a:latin typeface="Courier New"/>
              </a:defRPr>
            </a:pPr>
            <a:r>
              <a:t>$ ls -lah generated_package</a:t>
            </a:r>
          </a:p>
          <a:p>
            <a:pPr>
              <a:defRPr sz="1500">
                <a:solidFill>
                  <a:srgbClr val="FFFFFF"/>
                </a:solidFill>
                <a:latin typeface="Courier New"/>
              </a:defRPr>
            </a:pPr>
            <a:r>
              <a:t>$ cat generated_package/report.md</a:t>
            </a:r>
          </a:p>
          <a:p>
            <a:pPr>
              <a:defRPr sz="1500">
                <a:solidFill>
                  <a:srgbClr val="FFFFFF"/>
                </a:solidFill>
                <a:latin typeface="Courier New"/>
              </a:defRPr>
            </a:pPr>
            <a:r>
              <a:t>$ cd generated_package &amp;&amp; ./build.sh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14300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</a:defRPr>
            </a:pPr>
            <a:r>
              <a:t>The key demo is deleting generated_package and regenerating it.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</a:defRPr>
            </a:pPr>
            <a:r>
              <a:t>report.md proves imports and dependencies were detected/resolved.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</a:defRPr>
            </a:pPr>
            <a:r>
              <a:t>build.sh validates the generated runtime package.</a:t>
            </a:r>
          </a:p>
          <a:p>
            <a:pPr>
              <a:spcAft>
                <a:spcPts val="500"/>
              </a:spcAft>
              <a:defRPr sz="1700">
                <a:solidFill>
                  <a:srgbClr val="141414"/>
                </a:solidFill>
              </a:defRPr>
            </a:pPr>
            <a:r>
              <a:t>run.sh can execute the package when credentials and dependencies are available.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5E6C"/>
                </a:solidFill>
              </a:defRPr>
            </a:pPr>
            <a:r>
              <a:t>NISAR_OGC_JOB proof of concept |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84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102A43"/>
                </a:solidFill>
              </a:defRPr>
            </a:pPr>
            <a:r>
              <a:t>Current prototype versus full assessment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1384280" cy="27432"/>
          </a:xfrm>
          <a:prstGeom prst="rect">
            <a:avLst/>
          </a:prstGeom>
          <a:solidFill>
            <a:srgbClr val="0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5074920" cy="4251960"/>
          </a:xfrm>
          <a:prstGeom prst="roundRect">
            <a:avLst/>
          </a:prstGeom>
          <a:solidFill>
            <a:srgbClr val="F1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188719"/>
            <a:ext cx="4745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A43"/>
                </a:solidFill>
              </a:defRPr>
            </a:pPr>
            <a:r>
              <a:t>Implemented in this repo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554480"/>
            <a:ext cx="474573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41414"/>
                </a:solidFill>
              </a:defRPr>
            </a:pPr>
            <a:r>
              <a:t>Script input</a:t>
            </a:r>
            <a:br/>
            <a:r>
              <a:t>app.yml manifest</a:t>
            </a:r>
            <a:br/>
            <a:r>
              <a:t>AST import detection</a:t>
            </a:r>
            <a:br/>
            <a:r>
              <a:t>Dependency resolution</a:t>
            </a:r>
            <a:br/>
            <a:r>
              <a:t>Template-based package generation</a:t>
            </a:r>
            <a:br/>
            <a:r>
              <a:t>MAAP-style algorithm.yml</a:t>
            </a:r>
            <a:br/>
            <a:r>
              <a:t>OGC-style CWL</a:t>
            </a:r>
            <a:br/>
            <a:r>
              <a:t>Generated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051560"/>
            <a:ext cx="5074920" cy="4251960"/>
          </a:xfrm>
          <a:prstGeom prst="roundRect">
            <a:avLst/>
          </a:prstGeom>
          <a:solidFill>
            <a:srgbClr val="F1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9672" y="1188719"/>
            <a:ext cx="4745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A43"/>
                </a:solidFill>
              </a:defRPr>
            </a:pPr>
            <a:r>
              <a:t>Future extensions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1554480"/>
            <a:ext cx="474573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41414"/>
                </a:solidFill>
              </a:defRPr>
            </a:pPr>
            <a:r>
              <a:t>Notebook .ipynb conversion</a:t>
            </a:r>
            <a:br/>
            <a:r>
              <a:t>Papermill parameter inference</a:t>
            </a:r>
            <a:br/>
            <a:r>
              <a:t>Ruff/nbqa/Pynblint/Julynter linting</a:t>
            </a:r>
            <a:br/>
            <a:r>
              <a:t>LLM-assisted semantic checks</a:t>
            </a:r>
            <a:br/>
            <a:r>
              <a:t>MAAP API auto-registration</a:t>
            </a:r>
            <a:br/>
            <a:r>
              <a:t>STAC manifests</a:t>
            </a:r>
            <a:br/>
            <a:r>
              <a:t>Container build/test/publish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5E6C"/>
                </a:solidFill>
              </a:defRPr>
            </a:pPr>
            <a:r>
              <a:t>NISAR_OGC_JOB proof of concept |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84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102A43"/>
                </a:solidFill>
              </a:defRPr>
            </a:pPr>
            <a:r>
              <a:t>Suggested presentation narrative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1384280" cy="27432"/>
          </a:xfrm>
          <a:prstGeom prst="rect">
            <a:avLst/>
          </a:prstGeom>
          <a:solidFill>
            <a:srgbClr val="0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141414"/>
                </a:solidFill>
              </a:defRPr>
            </a:pPr>
            <a:r>
              <a:t>Start with the pain point: scientists have working scripts but packaging for DPS/OGC is manual.</a:t>
            </a:r>
          </a:p>
          <a:p>
            <a:pPr>
              <a:spcAft>
                <a:spcPts val="500"/>
              </a:spcAft>
              <a:defRPr sz="1900">
                <a:solidFill>
                  <a:srgbClr val="141414"/>
                </a:solidFill>
              </a:defRPr>
            </a:pPr>
            <a:r>
              <a:t>Explain the automation idea: user code plus app.yml becomes a package.</a:t>
            </a:r>
          </a:p>
          <a:p>
            <a:pPr>
              <a:spcAft>
                <a:spcPts val="500"/>
              </a:spcAft>
              <a:defRPr sz="1900">
                <a:solidFill>
                  <a:srgbClr val="141414"/>
                </a:solidFill>
              </a:defRPr>
            </a:pPr>
            <a:r>
              <a:t>Show input/nisar_access_subset.py and input/app.yml as the only human-authored science inputs.</a:t>
            </a:r>
          </a:p>
          <a:p>
            <a:pPr>
              <a:spcAft>
                <a:spcPts val="500"/>
              </a:spcAft>
              <a:defRPr sz="1900">
                <a:solidFill>
                  <a:srgbClr val="141414"/>
                </a:solidFill>
              </a:defRPr>
            </a:pPr>
            <a:r>
              <a:t>Run python generator/generate_package.py live.</a:t>
            </a:r>
          </a:p>
          <a:p>
            <a:pPr>
              <a:spcAft>
                <a:spcPts val="500"/>
              </a:spcAft>
              <a:defRPr sz="1900">
                <a:solidFill>
                  <a:srgbClr val="141414"/>
                </a:solidFill>
              </a:defRPr>
            </a:pPr>
            <a:r>
              <a:t>Show generated_package and report.md to prove files were generated.</a:t>
            </a:r>
          </a:p>
          <a:p>
            <a:pPr>
              <a:spcAft>
                <a:spcPts val="500"/>
              </a:spcAft>
              <a:defRPr sz="1900">
                <a:solidFill>
                  <a:srgbClr val="141414"/>
                </a:solidFill>
              </a:defRPr>
            </a:pPr>
            <a:r>
              <a:t>Explain that this is a proof of concept now, with clear next steps toward the full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5E6C"/>
                </a:solidFill>
              </a:defRPr>
            </a:pPr>
            <a:r>
              <a:t>NISAR_OGC_JOB proof of concept |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2A43"/>
                </a:solidFill>
              </a:defRPr>
            </a:pPr>
            <a: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828800"/>
            <a:ext cx="9692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41414"/>
                </a:solidFill>
              </a:defRPr>
            </a:pPr>
            <a:r>
              <a:t>This repository demonstrates the core conversion path: user science code + minimal manifest -&gt; generated MAAP DPS and OGC Application Package artifacts.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886200"/>
            <a:ext cx="85496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93392" y="4023360"/>
            <a:ext cx="8220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2A43"/>
                </a:solidFill>
              </a:defRPr>
            </a:pPr>
            <a:r>
              <a:t>Proof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93392" y="4389120"/>
            <a:ext cx="8220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141414"/>
                </a:solidFill>
              </a:defRPr>
            </a:pPr>
            <a:r>
              <a:t>Deleting generated_package and rerunning the generator recreates the package files automatically.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5212080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u="sng">
                <a:solidFill>
                  <a:srgbClr val="005B96"/>
                </a:solidFill>
                <a:hlinkClick r:id="rId2"/>
              </a:rPr>
              <a:t>Open the GitHub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5E6C"/>
                </a:solidFill>
              </a:defRPr>
            </a:pPr>
            <a:r>
              <a:t>NISAR_OGC_JOB proof of concept | Slide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